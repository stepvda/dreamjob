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146304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2438339" cy="146304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678" y="0"/>
            <a:ext cx="2438339" cy="146304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017" y="0"/>
            <a:ext cx="2438339" cy="146304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53356" y="0"/>
            <a:ext cx="2438339" cy="146304"/>
          </a:xfrm>
          <a:prstGeom prst="rect">
            <a:avLst/>
          </a:prstGeom>
          <a:solidFill>
            <a:srgbClr val="BC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aperture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84074"/>
            <a:ext cx="1828800" cy="5178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4600" b="1" i="0">
                <a:solidFill>
                  <a:srgbClr val="1A1A22"/>
                </a:solidFill>
                <a:latin typeface="Helvetica Neue"/>
              </a:rPr>
              <a:t>Dream Job</a:t>
            </a:r>
          </a:p>
          <a:p>
            <a:pPr algn="l">
              <a:spcAft>
                <a:spcPts val="800"/>
              </a:spcAft>
            </a:pPr>
            <a:r>
              <a:rPr sz="2200" b="0" i="0">
                <a:solidFill>
                  <a:srgbClr val="0B7B73"/>
                </a:solidFill>
                <a:latin typeface="Helvetica Neue"/>
              </a:rPr>
              <a:t>Functional walkthrough and technical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4A4A58"/>
                </a:solidFill>
                <a:latin typeface="Helvetica Neue"/>
              </a:rPr>
              <a:t>An AI-assisted job discovery and application platform: profile in, ranked and explained opportunities out, every message reviewed and sent by the job seeker.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029200"/>
            <a:ext cx="1280160" cy="32004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212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4A4A58"/>
                </a:solidFill>
                <a:latin typeface="Helvetica Neue"/>
              </a:rPr>
              <a:t>Prepared for Stephane van der Aa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74748A"/>
                </a:solidFill>
                <a:latin typeface="Helvetica Neue"/>
              </a:rPr>
              <a:t>Live application walkthrough, system architecture and the full source catalogue  ·  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F6672"/>
                </a:solidFill>
                <a:latin typeface="Helvetica Neue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What this deck contains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4A4A58"/>
                </a:solidFill>
                <a:latin typeface="Helvetica Neue"/>
              </a:rPr>
              <a:t>A working tour of the platform, the architecture behind it, and the complete list of external sources it can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Part 1 · A functional walkthrough: a screenshot of every working screen, captured from the live application, with what each screen is for and how the job seeker uses it.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Part 2 · Technical architecture: the layered system, the five chokepoints, the campaign pipeline end to end, the adapter contract, the path of one LLM call and one outbound request, and the data model.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Part 3 · Data sources: every registered adapter, grouped by type, with coverage, access method, terms status and whether it needs the language model.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The principle throughout: nothing is sent or applied on its own. Every score is advisory and every message waits for the job seeker.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F6672"/>
                </a:solidFill>
                <a:latin typeface="Helvetica Neue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The product in one picture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784234"/>
            <a:ext cx="7589520" cy="3637003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dd-01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8514"/>
            <a:ext cx="7589520" cy="3637003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2920" y="1371600"/>
            <a:ext cx="3246120" cy="4370832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91056"/>
            <a:ext cx="2788920" cy="4005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Profile — import the facts about you and describe the job you want.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Plan — bound the search with structured directives and review the plan.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Discover — collect, profile, analyse and rank the market.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Apply — write, check and dispatch applications you approve.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Follow up — read the outcomes and redirect the next 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4748A"/>
                </a:solidFill>
                <a:latin typeface="Helvetica Neue"/>
              </a:rPr>
              <a:t>The five phases of the journey. Each phase owns a colour that follows it through every screen of the application.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54D8"/>
                </a:solidFill>
                <a:latin typeface="Helvetica Neue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22"/>
                </a:solidFill>
                <a:latin typeface="Helvetica Neue"/>
              </a:rPr>
              <a:t>A functional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4A58"/>
                </a:solidFill>
                <a:latin typeface="Helvetica Neue"/>
              </a:rPr>
              <a:t>Every screen, in the order a job seeker meets it. The screenshots are taken from the running application with real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D54D8"/>
                </a:solidFill>
                <a:latin typeface="Helvetica Neue"/>
              </a:rPr>
              <a:t>PART 1 ·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Start 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F0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Three steps and nothing else: set up your profile, let Dream Job search and rank the market, then choose who to write to. Everything in between runs on its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The whole search runs in the background; the page can be closed.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Live counts: 100 sources searched, 329 opportunities ranked, 18 speculative.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Nothing is ever sent on its own — every message waits for approval.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A speculative opening is labelled everywhere so an email never claims a vacancy exists.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home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F6672"/>
                </a:solidFill>
                <a:latin typeface="Helvetica Neue"/>
              </a:rPr>
              <a:t>PART 1 ·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Where I am — the full journey 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The whole process on one screen: what is done, what is running, what is blocked, and what the next useful move is. Every stage links to the screen that advances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A green mark is finished, a pulsing one is running, a dotted one is waiting on an earlier stage.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Headline counts are links to the screens their numbers come from.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While a campaign runs, its token budget and cost refresh every few seconds.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A blocked stage says what it needs, so the next move is never a guess.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overview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D54D8"/>
                </a:solidFill>
                <a:latin typeface="Helvetica Neue"/>
              </a:rPr>
              <a:t>PART 1 ·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Your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F0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Everything the system does starts here. The profile is the only source of facts about the job seeker; nothing in a generated CV or email can say anything not grounded in this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Import the LinkedIn export and the CV; the two are merged, and conflicts are surfaced, not silently resolved (FR-102/103).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This account holds 11 saved versions and 0 unresolved conflicts.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Every save is a new version; campaigns record which version they used.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Fields marked 'do not disclose' are stripped before anything reaches the AI provider (FR-106).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profile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D54D8"/>
                </a:solidFill>
                <a:latin typeface="Helvetica Neue"/>
              </a:rPr>
              <a:t>PART 1 ·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Composite 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F0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A synthesis of what the job seeker supplied and what could be verified online. This is what the model actually reads when matching, scoring and writing.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Every statement carries its source and a confidence.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Online findings are queued for confirm or reject; a rejection is permanent.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Identity matching folds name variants, employer overlap, cross-links, location, timeline and photo similarity.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Enrichment can be switched off; the profile is then built from documents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composite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5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6D54D8"/>
                </a:solidFill>
                <a:latin typeface="Helvetica Neue"/>
              </a:rPr>
              <a:t>PART 1 ·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Dream job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F0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Describe the job you actually want, in your own words and language. The model reads it for nuance — target roles, responsibilities, values and deal-breakers.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Deal-breakers filter more decisively than preferences; they become directive defaults.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The structured model is used for matching; the prose is not.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The screen flags when the statement and the model have drifted apart.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Nothing acts on the model until the job seeker confirms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ream-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dream job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6BC8"/>
                </a:solidFill>
                <a:latin typeface="Helvetica Neue"/>
              </a:rPr>
              <a:t>PART 1 ·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Search directives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E9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Directives bound the search. They are structured controls rather than free text, so they translate reliably into each source's own query language.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Five groups: job content, company type, location, work arrangement and compensation.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Values pre-filled from the composite profile are suggestions, not facts.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Discretion mode excludes the current employer and its group entities from every search and message.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The collection estimate beside the form says how many sources and pages the settings imply.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rec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directives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6BC8"/>
                </a:solidFill>
                <a:latin typeface="Helvetica Neue"/>
              </a:rPr>
              <a:t>PART 1 ·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Campaigns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E9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A campaign is one run of the collection and analysis pipeline under one set of directives. Every stage stores what it produced and can be re-run on its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The plan is reviewed before launch: sources, queries, expected volume, duration and cost.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The planner checks the shared knowledge base first and collects only what is missing or stale.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Pause, resume or cancel at any point; a crash loses at most the page in flight (NFR-401).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The token budget caps AI spend and degrades gracefully near the limit.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mpaig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campaigns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B73"/>
                </a:solidFill>
                <a:latin typeface="Helvetica Neue"/>
              </a:rPr>
              <a:t>PART 1 ·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Opportunities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E2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Every advertised vacancy and every speculative opening the system found, ranked. The score is advisory; the job seeker decides what to pursue.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Filter and sort by kind, arrangement, seniority, country, score floor or keyword.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'Why this rank?' opens the seven sub-scores and the dream-job criteria behind them.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Manual ordering overrides the computed ranking and survives recalculation.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Rejection reasons feed back into the weights, which is why a reason is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pportun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opportunities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B73"/>
                </a:solidFill>
                <a:latin typeface="Helvetica Neue"/>
              </a:rPr>
              <a:t>PART 1 ·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Companies and the knowledge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E2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The shared knowledge base: company profiles, five-year financial analyses, competitors and hiring signals — searchable without picking a campaign.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Company research is shared across job seekers and reused while fresh, so a second search costs nothing.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Five filed years, revenue and headcount trends, and two 0–100 scores that cite their figures.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Freshness is shown before the figures: a stale row describes the company as it was.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Ability to pay and investment capacity are advisory and derived from filed accounts.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mpan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companies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B73"/>
                </a:solidFill>
                <a:latin typeface="Helvetica Neue"/>
              </a:rPr>
              <a:t>PART 1 ·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Dream-job intelligence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E2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How far the market is from the dream job, and the stepping-stone routes that lead there. Gap analysis and paths work without the language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Gaps are computed against the structured dream-job model, with a threshold the job seeker controls.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Stepping-stone paths are reached by tagging routes onto the ranked list.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The numbers and routes are deterministic; a model only sharpens the wording.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intelligence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F6011"/>
                </a:solidFill>
                <a:latin typeface="Helvetica Neue"/>
              </a:rPr>
              <a:t>PART 1 ·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Hiring contacts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FC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The people behind the opportunities, found by walking a ladder of sources and validated rather than guessed.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A company showing 'unreachable' is a real finding: nothing survived the ladder.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Contacts are shared unless collected by browser automation, then restricted (NFR-302/303).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An objection blocks the address permanently for everyone on the installation.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contacts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F6011"/>
                </a:solidFill>
                <a:latin typeface="Helvetica Neue"/>
              </a:rPr>
              <a:t>PART 1 ·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FC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The generated CV, briefing, motivation document and email for each shortlisted role — all for the job seeker to read, edit and approve.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A consistency check catches invented employers, dates and titles.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Approving authorises dispatch but sends nothing; messages go from the seeker's own mailbox.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The generated CV is grounded in the profile: nothing appears that is not traceable to it.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The job seeker is the last line of defence for anything technically true and still wrong for the audience.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l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applications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C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C3D66"/>
                </a:solidFill>
                <a:latin typeface="Helvetica Neue"/>
              </a:rPr>
              <a:t>PART 1 · FOLLOW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Application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F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Every authorised application and its stage, from sent to reply, interview and outcome, on one 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Open a card for the classified reply, the drafted answer and the stage dates.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Approving a draft queues it for the mail screen; it still sends nothing.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Outcomes feed back into generation defaults and scoring weights.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Learned effects are reported with the sample size they rest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pipeline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C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C3D66"/>
                </a:solidFill>
                <a:latin typeface="Helvetica Neue"/>
              </a:rPr>
              <a:t>PART 1 · FOLLOW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Responses received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F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Every answer to an application, however it arrived: detected automatically from Gmail, or recorded by hand for a call, a portal or a LinkedIn message.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Recording rejections matters as much as good news; both feed the pattern analysis.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An application counts as answered or as silence, and nothing in between until 21 days pass.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Recording a response moves the card on the pipeline board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responses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BC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C3D66"/>
                </a:solidFill>
                <a:latin typeface="Helvetica Neue"/>
              </a:rPr>
              <a:t>PART 1 · FOLLOW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What works, and where to redirect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F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Which kinds of job and company actually answer, computed from recorded outcomes and always shown with the sample size behind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Rates are drawn with a plausible range, so a thin segment cannot look decisive.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Advice needs roughly six resolved applications before it will say anything.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Applying a proposal creates a new directive version — it never overwrites.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The data does not get to overrule the dream job; it only shows what the mismatch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insights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F6672"/>
                </a:solidFill>
                <a:latin typeface="Helvetica Neue"/>
              </a:rPr>
              <a:t>PART 1 ·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The operational surface: campaign health, token spend, extraction rates and the audit trail, plus the scheduled re-checks of watched companies.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Extraction-rate monitoring surfaces adapter breakage (NFR-403).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Every LLM call, egress request and score is audited with its provenance.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Watched companies are rechecked on a schedule, and what changed becomes one weekly digest.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nit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monitoring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F6672"/>
                </a:solidFill>
                <a:latin typeface="Helvetica Neue"/>
              </a:rPr>
              <a:t>PART 1 ·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246120" cy="4407408"/>
          </a:xfrm>
          <a:prstGeom prst="roundRect">
            <a:avLst>
              <a:gd name="adj" fmla="val 5000"/>
            </a:avLst>
          </a:prstGeom>
          <a:solidFill>
            <a:srgbClr val="F1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572768"/>
            <a:ext cx="28072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A22"/>
                </a:solidFill>
                <a:latin typeface="Helvetica Neue"/>
              </a:rPr>
              <a:t>The installation-level controls: the source catalogue and its terms acknowledgements, the server logs, model routing and the data-rights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743200"/>
            <a:ext cx="278892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Sources that require acknowledgement stay disabled until an administrator confirms their terms (IR-101).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Model routing chooses the provider per task and can point at a local endpoint for private data (FR-362, NFR-306).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Two actions cannot be undone: the redaction sweep and erasing a job seeker.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50" b="0">
                <a:solidFill>
                  <a:srgbClr val="4A4A58"/>
                </a:solidFill>
                <a:latin typeface="Helvetica Neue"/>
              </a:rPr>
              <a:t>•  Erasing a job seeker deletes the private rows and leaves the shared market data standing (FR-108).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354" y="1417320"/>
            <a:ext cx="7051852" cy="4407408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634" y="1371600"/>
            <a:ext cx="7051852" cy="4407408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0" y="5943600"/>
            <a:ext cx="7589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74748A"/>
                </a:solidFill>
                <a:latin typeface="Helvetica Neue"/>
              </a:rPr>
              <a:t>admin  ·  captured from the running 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D6BC8"/>
                </a:solidFill>
                <a:latin typeface="Helvetica Neue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22"/>
                </a:solidFill>
                <a:latin typeface="Helvetica Neue"/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4A58"/>
                </a:solidFill>
                <a:latin typeface="Helvetica Neue"/>
              </a:rPr>
              <a:t>The layered system, the five chokepoints that make its requirements enforceable, and the path one campaign takes through the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The shape of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364" y="1417320"/>
            <a:ext cx="5241831" cy="4370832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-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644" y="1371600"/>
            <a:ext cx="5241831" cy="4370832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2920" y="1371600"/>
            <a:ext cx="3246120" cy="4370832"/>
          </a:xfrm>
          <a:prstGeom prst="roundRect">
            <a:avLst>
              <a:gd name="adj" fmla="val 5000"/>
            </a:avLst>
          </a:prstGeom>
          <a:solidFill>
            <a:srgbClr val="E9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91056"/>
            <a:ext cx="2788920" cy="4005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172 Python modules and 113 JS modules; 301 routes over 71 tables.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Every outbound concern passes through one service: the LLM through LLMClient, HTTP through EgressClient.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Repositories are the only place SQL is written.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SQLite in WAL mode holds two scopes: private rows per job seeker and the shared knowledge base.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The filesystem keeps raw documents, generated CVs, uploads and exports.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4748A"/>
                </a:solidFill>
                <a:latin typeface="Helvetica Neue"/>
              </a:rPr>
              <a:t>A React SPA over a FastAPI API, a pipeline of stages, and five services — LLMClient, EgressClient, SourceAdapter, JobRunner and crypto — over a repository layer and SQLite.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CHOKEPOINTS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The five chokepoints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9605" y="1417320"/>
            <a:ext cx="5651349" cy="4370832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-02-choke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885" y="1371600"/>
            <a:ext cx="5651349" cy="4370832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2920" y="1371600"/>
            <a:ext cx="3246120" cy="4370832"/>
          </a:xfrm>
          <a:prstGeom prst="roundRect">
            <a:avLst>
              <a:gd name="adj" fmla="val 5000"/>
            </a:avLst>
          </a:prstGeom>
          <a:solidFill>
            <a:srgbClr val="E9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91056"/>
            <a:ext cx="2788920" cy="4005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Every SQL statement — db/repositories/*, db/connection.py: portability and isolation (CR-408, FR-344).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Every outbound HTTP request — egress/client.py: robots, pacing and raw capture (FR-182/183).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Every LLM call — llm/client.py: budget, injection defence, redaction, routing, audit.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Every external source — adapters/base.py: one file per source, terms status (NFR-601, IR-101).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Every long-running task — jobs/runner.py: pause, cancel, resume (FR-185, NFR-401).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4748A"/>
                </a:solidFill>
                <a:latin typeface="Helvetica Neue"/>
              </a:rPr>
              <a:t>The architecture funnels five concerns through exactly one module each, which is what makes the requirements below them enforceable rather than aspirational.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The pipeline, end to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516" y="1417320"/>
            <a:ext cx="6401528" cy="4370832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-07-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796" y="1371600"/>
            <a:ext cx="6401528" cy="4370832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2920" y="1371600"/>
            <a:ext cx="3246120" cy="4370832"/>
          </a:xfrm>
          <a:prstGeom prst="roundRect">
            <a:avLst>
              <a:gd name="adj" fmla="val 5000"/>
            </a:avLst>
          </a:prstGeom>
          <a:solidFill>
            <a:srgbClr val="E9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91056"/>
            <a:ext cx="2788920" cy="4005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Plan: directives, the campaign plan and a human gate before collection.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Discover: collection, company profiles, financial analysis, opportunity synthesis and ranking.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Apply: hiring contacts, generated and checked documents, a second human gate, then dispatch.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Follow up: replies, the pipeline board, segmentation and redirection advice that becomes the next campaign's directives (FR-285).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4748A"/>
                </a:solidFill>
                <a:latin typeface="Helvetica Neue"/>
              </a:rPr>
              <a:t>From directives to redirection advice. The middle of the flow reads and writes the shared knowledge base; replies stay private to one job seeker.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F6672"/>
                </a:solidFill>
                <a:latin typeface="Helvetica Neue"/>
              </a:rPr>
              <a:t>TECHNICAL ARCHITECTURE ·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One campaign, stage by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874519" cy="54864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17904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2D6BC8"/>
                </a:solidFill>
                <a:latin typeface="Helvetica Neue"/>
              </a:rPr>
              <a:t>Plan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Campaign plan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sources · queries · cost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FR-161..166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6291" y="1964132"/>
            <a:ext cx="73152" cy="21945"/>
          </a:xfrm>
          <a:prstGeom prst="rect">
            <a:avLst/>
          </a:prstGeom>
          <a:solidFill>
            <a:srgbClr val="74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14015" y="1371600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14015" y="1371600"/>
            <a:ext cx="1874519" cy="54864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3743" y="1517904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2D6BC8"/>
                </a:solidFill>
                <a:latin typeface="Helvetica Neue"/>
              </a:rPr>
              <a:t>Reuse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Knowledge base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what is fresh enough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FR-342/343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3106" y="1964132"/>
            <a:ext cx="73152" cy="21945"/>
          </a:xfrm>
          <a:prstGeom prst="rect">
            <a:avLst/>
          </a:prstGeom>
          <a:solidFill>
            <a:srgbClr val="74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0830" y="1371600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0" y="1371600"/>
            <a:ext cx="1874519" cy="54864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8" y="1517904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2D6BC8"/>
                </a:solidFill>
                <a:latin typeface="Helvetica Neue"/>
              </a:rPr>
              <a:t>Collect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Adapters + egress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raw documents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FR-181..185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9921" y="1964132"/>
            <a:ext cx="73152" cy="21945"/>
          </a:xfrm>
          <a:prstGeom prst="rect">
            <a:avLst/>
          </a:prstGeom>
          <a:solidFill>
            <a:srgbClr val="74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5" y="1371600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E2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5" y="1371600"/>
            <a:ext cx="1874519" cy="54864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3" y="1517904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B7B73"/>
                </a:solidFill>
                <a:latin typeface="Helvetica Neue"/>
              </a:rPr>
              <a:t>Profile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Company profiles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shared knowledge base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FR-221..225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06736" y="1964132"/>
            <a:ext cx="73152" cy="21945"/>
          </a:xfrm>
          <a:prstGeom prst="rect">
            <a:avLst/>
          </a:prstGeom>
          <a:solidFill>
            <a:srgbClr val="74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84460" y="1371600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E2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84460" y="1371600"/>
            <a:ext cx="1874519" cy="54864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88" y="1517904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B7B73"/>
                </a:solidFill>
                <a:latin typeface="Helvetica Neue"/>
              </a:rPr>
              <a:t>Financials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Five-year analysis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ability to pay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FR-241..246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889504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E2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889504"/>
            <a:ext cx="1874519" cy="54864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035808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B7B73"/>
                </a:solidFill>
                <a:latin typeface="Helvetica Neue"/>
              </a:rPr>
              <a:t>Enrich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Signals, employer kind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attractiveness inputs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FR-201..207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6291" y="3482036"/>
            <a:ext cx="73152" cy="21945"/>
          </a:xfrm>
          <a:prstGeom prst="rect">
            <a:avLst/>
          </a:prstGeom>
          <a:solidFill>
            <a:srgbClr val="74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414015" y="2889504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E2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14015" y="2889504"/>
            <a:ext cx="1874519" cy="54864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23743" y="3035808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B7B73"/>
                </a:solidFill>
                <a:latin typeface="Helvetica Neue"/>
              </a:rPr>
              <a:t>Synthesise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Opportunities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+ speculative openings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FR-261/262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3106" y="3482036"/>
            <a:ext cx="73152" cy="21945"/>
          </a:xfrm>
          <a:prstGeom prst="rect">
            <a:avLst/>
          </a:prstGeom>
          <a:solidFill>
            <a:srgbClr val="74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70830" y="2889504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E2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70830" y="2889504"/>
            <a:ext cx="1874519" cy="54864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58" y="3035808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B7B73"/>
                </a:solidFill>
                <a:latin typeface="Helvetica Neue"/>
              </a:rPr>
              <a:t>Price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Compensation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estimate vs minimum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FR-264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9921" y="3482036"/>
            <a:ext cx="73152" cy="21945"/>
          </a:xfrm>
          <a:prstGeom prst="rect">
            <a:avLst/>
          </a:prstGeom>
          <a:solidFill>
            <a:srgbClr val="74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327645" y="2889504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E2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27645" y="2889504"/>
            <a:ext cx="1874519" cy="54864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7373" y="3035808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0B7B73"/>
                </a:solidFill>
                <a:latin typeface="Helvetica Neue"/>
              </a:rPr>
              <a:t>Score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Seven sub-scores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ranked list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FR-281..285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06736" y="3482036"/>
            <a:ext cx="73152" cy="21945"/>
          </a:xfrm>
          <a:prstGeom prst="rect">
            <a:avLst/>
          </a:prstGeom>
          <a:solidFill>
            <a:srgbClr val="74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84460" y="2889504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FC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84460" y="2889504"/>
            <a:ext cx="1874519" cy="54864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88" y="3035808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9F6011"/>
                </a:solidFill>
                <a:latin typeface="Helvetica Neue"/>
              </a:rPr>
              <a:t>Contacts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Hiring contacts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validated, ranked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FR-302..306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407408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FC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407408"/>
            <a:ext cx="1874519" cy="54864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4553712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9F6011"/>
                </a:solidFill>
                <a:latin typeface="Helvetica Neue"/>
              </a:rPr>
              <a:t>Generate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Documents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CV · briefing · email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FR-301..306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36291" y="4999940"/>
            <a:ext cx="73152" cy="21945"/>
          </a:xfrm>
          <a:prstGeom prst="rect">
            <a:avLst/>
          </a:prstGeom>
          <a:solidFill>
            <a:srgbClr val="74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414015" y="4407408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FC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414015" y="4407408"/>
            <a:ext cx="1874519" cy="54864"/>
          </a:xfrm>
          <a:prstGeom prst="rect">
            <a:avLst/>
          </a:prstGeom>
          <a:solidFill>
            <a:srgbClr val="9F6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23743" y="4553712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9F6011"/>
                </a:solidFill>
                <a:latin typeface="Helvetica Neue"/>
              </a:rPr>
              <a:t>Dispatch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Send (approved)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from your mailbox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FR-311..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3106" y="4999940"/>
            <a:ext cx="73152" cy="21945"/>
          </a:xfrm>
          <a:prstGeom prst="rect">
            <a:avLst/>
          </a:prstGeom>
          <a:solidFill>
            <a:srgbClr val="747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370830" y="4407408"/>
            <a:ext cx="1874519" cy="1207008"/>
          </a:xfrm>
          <a:prstGeom prst="roundRect">
            <a:avLst>
              <a:gd name="adj" fmla="val 8000"/>
            </a:avLst>
          </a:prstGeom>
          <a:solidFill>
            <a:srgbClr val="FD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70830" y="4407408"/>
            <a:ext cx="1874519" cy="54864"/>
          </a:xfrm>
          <a:prstGeom prst="rect">
            <a:avLst/>
          </a:prstGeom>
          <a:solidFill>
            <a:srgbClr val="BC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0558" y="4553712"/>
            <a:ext cx="1655063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BC3D66"/>
                </a:solidFill>
                <a:latin typeface="Helvetica Neue"/>
              </a:rPr>
              <a:t>Learn</a:t>
            </a:r>
          </a:p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A1A22"/>
                </a:solidFill>
                <a:latin typeface="Helvetica Neue"/>
              </a:rPr>
              <a:t>Replies and outcomes</a:t>
            </a:r>
          </a:p>
          <a:p>
            <a:pPr algn="l">
              <a:spcAft>
                <a:spcPts val="100"/>
              </a:spcAft>
            </a:pPr>
            <a:r>
              <a:rPr sz="900" b="0" i="0">
                <a:solidFill>
                  <a:srgbClr val="4A4A58"/>
                </a:solidFill>
                <a:latin typeface="Helvetica Neue"/>
              </a:rPr>
              <a:t>pipeline · segments</a:t>
            </a:r>
          </a:p>
          <a:p>
            <a:pPr algn="l">
              <a:spcAft>
                <a:spcPts val="100"/>
              </a:spcAft>
            </a:pPr>
            <a:r>
              <a:rPr sz="800" b="0" i="1">
                <a:solidFill>
                  <a:srgbClr val="74748A"/>
                </a:solidFill>
                <a:latin typeface="Helvetica Neue"/>
              </a:rPr>
              <a:t>FR-285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4A4A58"/>
                </a:solidFill>
                <a:latin typeface="Helvetica Neue"/>
              </a:rPr>
              <a:t>Every stage persists its own artefacts and can be re-run on its own (NFR-603). The user-facing pipeline is the five phases: Profile, Plan, Discover, Apply, Follow up.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The adapter contract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470333"/>
            <a:ext cx="7589520" cy="4264805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-05-adap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424613"/>
            <a:ext cx="7589520" cy="4264805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2920" y="1371600"/>
            <a:ext cx="3246120" cy="4370832"/>
          </a:xfrm>
          <a:prstGeom prst="roundRect">
            <a:avLst>
              <a:gd name="adj" fmla="val 5000"/>
            </a:avLst>
          </a:prstGeom>
          <a:solidFill>
            <a:srgbClr val="E9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91056"/>
            <a:ext cx="2788920" cy="4005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plan: directives, composite profile and caps become this source's own query form, priced and paced.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fetch: every request goes through EgressClient — robots, rate limit, cache and raw capture.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parse: JSON-LD first, then deterministic selectors, then LLM extraction, in that order.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normalise: knowledge-base columns carrying a confidence and a provenance record (NFR-402).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4748A"/>
                </a:solidFill>
                <a:latin typeface="Helvetica Neue"/>
              </a:rPr>
              <a:t>One contract — plan, fetch, parse, normalise — and every source is one subclass and one decorator (NFR-601).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The path of one LLM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4364" y="1417320"/>
            <a:ext cx="5241831" cy="4370832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-04-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644" y="1371600"/>
            <a:ext cx="5241831" cy="4370832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2920" y="1371600"/>
            <a:ext cx="3246120" cy="4370832"/>
          </a:xfrm>
          <a:prstGeom prst="roundRect">
            <a:avLst>
              <a:gd name="adj" fmla="val 5000"/>
            </a:avLst>
          </a:prstGeom>
          <a:solidFill>
            <a:srgbClr val="E9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91056"/>
            <a:ext cx="2788920" cy="4005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Redact, route, fence: do-not-disclose fields stripped, a model chosen per task, scraped text quarantined.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Check the budget pre-flight, then shed optional work rather than stop mid-campaign (NFR-104).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Validate the response before any of it is used; injection defence is at the boundary (NFR-205).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Debit and audit: tokens, cost, latency, model and prompt version recorded (FR-364).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4748A"/>
                </a:solidFill>
                <a:latin typeface="Helvetica Neue"/>
              </a:rPr>
              <a:t>Every call in the system takes this path, because llm/client.py is the only module that speaks to a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EGRESS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One outbound request, end to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8018" y="1417320"/>
            <a:ext cx="7014523" cy="4370832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-11-e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298" y="1371600"/>
            <a:ext cx="7014523" cy="4370832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2920" y="1371600"/>
            <a:ext cx="3246120" cy="4370832"/>
          </a:xfrm>
          <a:prstGeom prst="roundRect">
            <a:avLst>
              <a:gd name="adj" fmla="val 5000"/>
            </a:avLst>
          </a:prstGeom>
          <a:solidFill>
            <a:srgbClr val="E9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91056"/>
            <a:ext cx="2788920" cy="4005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A cache hit never reaches the network.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robots.txt is parsed per domain; a disallow raises rather than being ignored.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A 429 or 503 backs off exponentially under one retry policy (IR-102).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Raw bodies are stored on disk so an extractor can be re-run on the page it originally saw.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4748A"/>
                </a:solidFill>
                <a:latin typeface="Helvetica Neue"/>
              </a:rPr>
              <a:t>No other module opens an HTTP connection. Cache, robots.txt, pacing, fetch, capture, parse — every response kept under its content hash (FR-183).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D6B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6BC8"/>
                </a:solidFill>
                <a:latin typeface="Helvetica Neue"/>
              </a:rPr>
              <a:t>ARCHITECTURE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One database, three scopes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0141" y="1417320"/>
            <a:ext cx="6130277" cy="4370832"/>
          </a:xfrm>
          <a:prstGeom prst="roundRect">
            <a:avLst>
              <a:gd name="adj" fmla="val 2000"/>
            </a:avLst>
          </a:prstGeom>
          <a:solidFill>
            <a:srgbClr val="E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-03-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421" y="1371600"/>
            <a:ext cx="6130277" cy="4370832"/>
          </a:xfrm>
          <a:prstGeom prst="rect">
            <a:avLst/>
          </a:prstGeom>
          <a:ln w="9525">
            <a:solidFill>
              <a:srgbClr val="D8D6E2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2920" y="1371600"/>
            <a:ext cx="3246120" cy="4370832"/>
          </a:xfrm>
          <a:prstGeom prst="roundRect">
            <a:avLst>
              <a:gd name="adj" fmla="val 5000"/>
            </a:avLst>
          </a:prstGeom>
          <a:solidFill>
            <a:srgbClr val="E9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591056"/>
            <a:ext cx="2788920" cy="4005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Private: profile versions, campaigns, opportunities, applications, replies.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Shared: companies, vacancies, financial years, signals, competitors, events.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Restricted: contact straddles the boundary — browser-collected rows are private to the campaign that made them (NFR-303).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100" b="0">
                <a:solidFill>
                  <a:srgbClr val="4A4A58"/>
                </a:solidFill>
                <a:latin typeface="Helvetica Neue"/>
              </a:rPr>
              <a:t>•  Erasing a job seeker leaves the market data standing (FR-108).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74748A"/>
                </a:solidFill>
                <a:latin typeface="Helvetica Neue"/>
              </a:rPr>
              <a:t>45 private tables carry a job_seeker_id; 25 shared tables carry none. FR-344 is the invariant: no shared row links back to a job seeker.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B7B73"/>
                </a:solidFill>
                <a:latin typeface="Helvetica Neue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A1A22"/>
                </a:solidFill>
                <a:latin typeface="Helvetica Neue"/>
              </a:rPr>
              <a:t>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4A58"/>
                </a:solidFill>
                <a:latin typeface="Helvetica Neue"/>
              </a:rPr>
              <a:t>Every adapter registered in the codebase — 29 today — what each one covers, how it is reached, and whether it needs consent.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B73"/>
                </a:solidFill>
                <a:latin typeface="Helvetica Neue"/>
              </a:rPr>
              <a:t>DATA SOURCES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The source catalogue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A4A58"/>
                </a:solidFill>
                <a:latin typeface="Helvetica Neue"/>
              </a:rPr>
              <a:t>29 adapters register themselves at import time. 4 ship disabled until an administrator acknowledges their terms (IR-101).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18311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7334"/>
                <a:gridCol w="2795778"/>
              </a:tblGrid>
              <a:tr h="513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Source type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Adapters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Applicant tracking systems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9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Job boards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9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Company registries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5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Directories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1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News and RSS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1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Events and communities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2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Company websites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1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Compensation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1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B73"/>
                </a:solidFill>
                <a:latin typeface="Helvetica Neue"/>
              </a:rPr>
              <a:t>DATA SOURCES · 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Applicant tracking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A4A58"/>
                </a:solidFill>
                <a:latin typeface="Helvetica Neue"/>
              </a:rPr>
              <a:t>Structured job feeds hosted by the employer's own recruiting system. Machine-readable, so collection costs no tokens.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18311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226"/>
                <a:gridCol w="2825207"/>
                <a:gridCol w="1294886"/>
                <a:gridCol w="1883471"/>
                <a:gridCol w="1530320"/>
              </a:tblGrid>
              <a:tr h="4617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Source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Coverage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Access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Terms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LLM extract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Ashby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Greenhouse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Lever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Personio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8 countries (EU+)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Recruitee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NL, BE, DE, FR, GB, PL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SmartRecruiters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Ack. required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Teamtailor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Workable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Workday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B73"/>
                </a:solidFill>
                <a:latin typeface="Helvetica Neue"/>
              </a:rPr>
              <a:t>DATA SOURCES · JOB 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Job boards and public employment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A4A58"/>
                </a:solidFill>
                <a:latin typeface="Helvetica Neue"/>
              </a:rPr>
              <a:t>Advertised vacancies across Belgium, the Netherlands, the EU and globally. Terms status decides whether a source is enabled by default.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18311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226"/>
                <a:gridCol w="2825207"/>
                <a:gridCol w="1294886"/>
                <a:gridCol w="1883471"/>
                <a:gridCol w="1530320"/>
              </a:tblGrid>
              <a:tr h="46177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Source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Coverage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Access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Terms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LLM extract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Actiris (Brussels public employment service)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BE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HTTP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Arbeitnow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EURES (European Job Mobility Portal)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30 countries (EU+)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yes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Generic HTML job board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HTTP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yes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Indeed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HTTP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Ack. required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yes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Jobat.be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BE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HTTP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yes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StepStone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BE, DE, NL, AT, GB, FR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HTTP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Ack. required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yes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VDAB (Vind een job)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BE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HTTP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yes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Welcome to the Jungle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FR, BE, ES, CZ, GB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yes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B73"/>
                </a:solidFill>
                <a:latin typeface="Helvetica Neue"/>
              </a:rPr>
              <a:t>DATA SOURCES · REGISTRIES AND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Registries, directories, news, events, websites, compensation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A4A58"/>
                </a:solidFill>
                <a:latin typeface="Helvetica Neue"/>
              </a:rPr>
              <a:t>The non-vacancy sources: statutory filings that price a company, news and events that signal hiring, the company's own site, and the pay benchmark.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18311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9226"/>
                <a:gridCol w="2825207"/>
                <a:gridCol w="1294886"/>
                <a:gridCol w="1883471"/>
                <a:gridCol w="1530320"/>
              </a:tblGrid>
              <a:tr h="3848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Source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Coverage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Access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Terms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LLM extract</a:t>
                      </a:r>
                    </a:p>
                  </a:txBody>
                  <a:tcPr marL="73152" marR="54864" marT="27432" marB="27432">
                    <a:solidFill>
                      <a:srgbClr val="0B7B73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Companies House (UK)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GB, UK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KBO/BCE (Belgian enterprise register)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BE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HTTP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KvK Handelsregister (NL)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NBB Central Balance Sheet Office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BE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SEC EDGAR (US)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US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OpenCorporates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Company newsroom / RSS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HTTP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Conference sites and community calendars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HTTP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Meetup and Eventbrite (public listings)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HTTP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Ack. required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Company website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HTTP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AF9FD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A1A22"/>
                          </a:solidFill>
                          <a:latin typeface="Helvetica Neue"/>
                        </a:defRPr>
                      </a:pPr>
                      <a:r>
                        <a:t>Eurostat Structure of Earnings Survey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32 countries (EU+)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API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Permitted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4A4A58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7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B7B73"/>
                </a:solidFill>
                <a:latin typeface="Helvetica Neue"/>
              </a:rPr>
              <a:t>DATA SOURCES ·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What the catalogue implies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4A4A58"/>
                </a:solidFill>
                <a:latin typeface="Helvetica Neue"/>
              </a:rPr>
              <a:t>The catalogue is not a fixed list: the planner selects from it using the coverage metadata each adapter declares (FR-161/164).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Coverage is declared per adapter, so a Belgian search runs the registries and boards that cover Belgium and skips the rest.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Terms status is first-class: SmartRecruiters, Indeed, StepStone and Meetup and Eventbrite ship disabled until an administrator acknowledges their terms (IR-101).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Adapters that return machine-readable payloads set llm_fallback = false, so the structured forms are read deterministically at zero token cost.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Every source is reached through EgressClient, so robots.txt, per-domain pacing, caching and raw capture apply to all of them equally.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A new source is one subclass and one decorator — no registration list and no pipeline edit (NFR-601).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5F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F6672"/>
                </a:solidFill>
                <a:latin typeface="Helvetica Neue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A1A22"/>
                </a:solidFill>
                <a:latin typeface="Helvetica Neue"/>
              </a:rPr>
              <a:t>The system in five sentences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Profile in: a LinkedIn export, a CV and a description of the job actually wanted, merged into one composite profile with every conflict surfaced.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Plan and collect: structured directives become a per-source plan, reviewed and priced before anything runs, then executed through 29 registered adapters behind one contract.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Analyse and rank: company profiles, five years of filings and seven sub-scores produce an explained, advisory ranking of advertised and speculative opportunities.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Apply: documents are generated from grounded facts, checked, and sent from the job seeker's own mailbox only after explicit approval.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50" b="0">
                <a:solidFill>
                  <a:srgbClr val="4A4A58"/>
                </a:solidFill>
                <a:latin typeface="Helvetica Neue"/>
              </a:rPr>
              <a:t>•  Follow up and learn: replies become a pipeline, outcomes become segment rates shown with their sample size, and redirection advice becomes the next campaign's directives.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4748A"/>
                </a:solidFill>
                <a:latin typeface="Helvetica Neue"/>
              </a:rPr>
              <a:t>Dream Job  ·  Functional walkthrough and technical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4748A"/>
                </a:solidFill>
                <a:latin typeface="Helvetica Neue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